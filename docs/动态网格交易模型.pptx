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74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78" r:id="rId20"/>
    <p:sldId id="273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png"/><Relationship Id="rId2" Type="http://schemas.openxmlformats.org/officeDocument/2006/relationships/tags" Target="../tags/tag15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1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NULL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5" Type="http://schemas.openxmlformats.org/officeDocument/2006/relationships/tags" Target="../tags/tag170.xml"/><Relationship Id="rId24" Type="http://schemas.openxmlformats.org/officeDocument/2006/relationships/tags" Target="../tags/tag169.xml"/><Relationship Id="rId23" Type="http://schemas.openxmlformats.org/officeDocument/2006/relationships/tags" Target="../tags/tag168.xml"/><Relationship Id="rId22" Type="http://schemas.openxmlformats.org/officeDocument/2006/relationships/tags" Target="../tags/tag167.xml"/><Relationship Id="rId21" Type="http://schemas.openxmlformats.org/officeDocument/2006/relationships/tags" Target="../tags/tag166.xml"/><Relationship Id="rId20" Type="http://schemas.openxmlformats.org/officeDocument/2006/relationships/tags" Target="../tags/tag165.xml"/><Relationship Id="rId2" Type="http://schemas.openxmlformats.org/officeDocument/2006/relationships/tags" Target="../tags/tag147.xml"/><Relationship Id="rId19" Type="http://schemas.openxmlformats.org/officeDocument/2006/relationships/tags" Target="../tags/tag164.xml"/><Relationship Id="rId18" Type="http://schemas.openxmlformats.org/officeDocument/2006/relationships/tags" Target="../tags/tag163.xml"/><Relationship Id="rId17" Type="http://schemas.openxmlformats.org/officeDocument/2006/relationships/tags" Target="../tags/tag162.xml"/><Relationship Id="rId16" Type="http://schemas.openxmlformats.org/officeDocument/2006/relationships/tags" Target="../tags/tag161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3" Type="http://schemas.openxmlformats.org/officeDocument/2006/relationships/tags" Target="../tags/tag208.xml"/><Relationship Id="rId22" Type="http://schemas.openxmlformats.org/officeDocument/2006/relationships/tags" Target="../tags/tag207.xml"/><Relationship Id="rId21" Type="http://schemas.openxmlformats.org/officeDocument/2006/relationships/tags" Target="../tags/tag206.xml"/><Relationship Id="rId20" Type="http://schemas.openxmlformats.org/officeDocument/2006/relationships/tags" Target="../tags/tag205.xml"/><Relationship Id="rId2" Type="http://schemas.openxmlformats.org/officeDocument/2006/relationships/tags" Target="../tags/tag187.xml"/><Relationship Id="rId19" Type="http://schemas.openxmlformats.org/officeDocument/2006/relationships/tags" Target="../tags/tag204.xml"/><Relationship Id="rId18" Type="http://schemas.openxmlformats.org/officeDocument/2006/relationships/tags" Target="../tags/tag203.xml"/><Relationship Id="rId17" Type="http://schemas.openxmlformats.org/officeDocument/2006/relationships/tags" Target="../tags/tag202.xml"/><Relationship Id="rId16" Type="http://schemas.openxmlformats.org/officeDocument/2006/relationships/tags" Target="../tags/tag201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5156201" y="2882902"/>
            <a:ext cx="1879600" cy="165100"/>
          </a:xfrm>
          <a:custGeom>
            <a:avLst/>
            <a:gdLst>
              <a:gd name="connisteX0" fmla="*/ 0 w 1879604"/>
              <a:gd name="connsiteY0" fmla="*/ 82552 h 165104"/>
              <a:gd name="connisteX1" fmla="*/ 82552 w 1879604"/>
              <a:gd name="connsiteY1" fmla="*/ 0 h 165104"/>
              <a:gd name="connisteX2" fmla="*/ 1797052 w 1879604"/>
              <a:gd name="connsiteY2" fmla="*/ 0 h 165104"/>
              <a:gd name="connisteX3" fmla="*/ 1879604 w 1879604"/>
              <a:gd name="connsiteY3" fmla="*/ 82552 h 165104"/>
              <a:gd name="connisteX4" fmla="*/ 1879604 w 1879604"/>
              <a:gd name="connsiteY4" fmla="*/ 82552 h 165104"/>
              <a:gd name="connisteX5" fmla="*/ 1797052 w 1879604"/>
              <a:gd name="connsiteY5" fmla="*/ 165104 h 165104"/>
              <a:gd name="connisteX6" fmla="*/ 82552 w 1879604"/>
              <a:gd name="connsiteY6" fmla="*/ 165104 h 165104"/>
              <a:gd name="connisteX7" fmla="*/ 0 w 1879604"/>
              <a:gd name="connsiteY7" fmla="*/ 82552 h 165104"/>
              <a:gd name="connisteX8" fmla="*/ 0 w 1879604"/>
              <a:gd name="connsiteY8" fmla="*/ 82552 h 1651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879604" h="165104">
                <a:moveTo>
                  <a:pt x="0" y="82552"/>
                </a:moveTo>
                <a:cubicBezTo>
                  <a:pt x="0" y="36960"/>
                  <a:pt x="36960" y="0"/>
                  <a:pt x="82552" y="0"/>
                </a:cubicBezTo>
                <a:lnTo>
                  <a:pt x="1797052" y="0"/>
                </a:lnTo>
                <a:cubicBezTo>
                  <a:pt x="1842644" y="0"/>
                  <a:pt x="1879604" y="36960"/>
                  <a:pt x="1879604" y="82552"/>
                </a:cubicBezTo>
                <a:lnTo>
                  <a:pt x="1879604" y="82552"/>
                </a:lnTo>
                <a:cubicBezTo>
                  <a:pt x="1879604" y="128144"/>
                  <a:pt x="1842644" y="165104"/>
                  <a:pt x="1797052" y="165104"/>
                </a:cubicBezTo>
                <a:lnTo>
                  <a:pt x="82552" y="165104"/>
                </a:lnTo>
                <a:cubicBezTo>
                  <a:pt x="36960" y="165104"/>
                  <a:pt x="0" y="128144"/>
                  <a:pt x="0" y="82552"/>
                </a:cubicBezTo>
                <a:lnTo>
                  <a:pt x="0" y="8255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3898901" y="2613657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3835396" y="320674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谢谢观看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1041401" y="2476497"/>
            <a:ext cx="2336800" cy="1917700"/>
          </a:xfrm>
          <a:custGeom>
            <a:avLst/>
            <a:gdLst>
              <a:gd name="connisteX0" fmla="*/ 643728 w 2337078"/>
              <a:gd name="connsiteY0" fmla="*/ 197949 h 1917697"/>
              <a:gd name="connisteX1" fmla="*/ 929185 w 2337078"/>
              <a:gd name="connsiteY1" fmla="*/ 0 h 1917697"/>
              <a:gd name="connisteX2" fmla="*/ 2337078 w 2337078"/>
              <a:gd name="connsiteY2" fmla="*/ 0 h 1917697"/>
              <a:gd name="connisteX3" fmla="*/ 1693340 w 2337078"/>
              <a:gd name="connsiteY3" fmla="*/ 1719748 h 1917697"/>
              <a:gd name="connisteX4" fmla="*/ 1407883 w 2337078"/>
              <a:gd name="connsiteY4" fmla="*/ 1917697 h 1917697"/>
              <a:gd name="connisteX5" fmla="*/ 0 w 2337078"/>
              <a:gd name="connsiteY5" fmla="*/ 1917697 h 1917697"/>
              <a:gd name="connisteX6" fmla="*/ 643728 w 2337078"/>
              <a:gd name="connsiteY6" fmla="*/ 197949 h 1917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37078" h="1917698">
                <a:moveTo>
                  <a:pt x="643728" y="197949"/>
                </a:moveTo>
                <a:cubicBezTo>
                  <a:pt x="688296" y="78894"/>
                  <a:pt x="802066" y="0"/>
                  <a:pt x="929186" y="0"/>
                </a:cubicBezTo>
                <a:lnTo>
                  <a:pt x="2337078" y="0"/>
                </a:lnTo>
                <a:lnTo>
                  <a:pt x="1693341" y="1719749"/>
                </a:lnTo>
                <a:cubicBezTo>
                  <a:pt x="1648773" y="1838804"/>
                  <a:pt x="1535012" y="1917698"/>
                  <a:pt x="1407883" y="1917698"/>
                </a:cubicBezTo>
                <a:lnTo>
                  <a:pt x="0" y="1917698"/>
                </a:lnTo>
                <a:lnTo>
                  <a:pt x="643728" y="197949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733800" y="2284095"/>
            <a:ext cx="7131685" cy="228981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章节页的标题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68302" y="2351450"/>
            <a:ext cx="2451104" cy="2117741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100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</a:t>
            </a:r>
            <a:r>
              <a:rPr lang="en-US" altLang="zh-CN" smtClean="0">
                <a:latin typeface="MiSans Normal" panose="00000500000000000000" charset="-122"/>
                <a:ea typeface="MiSans Normal" panose="00000500000000000000" charset="-122"/>
              </a:rPr>
              <a:t>1</a:t>
            </a:r>
            <a:endParaRPr lang="en-US" altLang="zh-CN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>
            <p:custDataLst>
              <p:tags r:id="rId4"/>
            </p:custDataLst>
          </p:nvPr>
        </p:nvSpPr>
        <p:spPr>
          <a:xfrm>
            <a:off x="1015999" y="0"/>
            <a:ext cx="1270635" cy="609600"/>
          </a:xfrm>
          <a:custGeom>
            <a:avLst/>
            <a:gdLst>
              <a:gd name="connisteX0" fmla="*/ 0 w 1270001"/>
              <a:gd name="connsiteY0" fmla="*/ 0 h 609603"/>
              <a:gd name="connisteX1" fmla="*/ 1270001 w 1270001"/>
              <a:gd name="connsiteY1" fmla="*/ 0 h 609603"/>
              <a:gd name="connisteX2" fmla="*/ 1270001 w 1270001"/>
              <a:gd name="connsiteY2" fmla="*/ 406395 h 609603"/>
              <a:gd name="connisteX3" fmla="*/ 1066803 w 1270001"/>
              <a:gd name="connsiteY3" fmla="*/ 609603 h 609603"/>
              <a:gd name="connisteX4" fmla="*/ 203197 w 1270001"/>
              <a:gd name="connsiteY4" fmla="*/ 609603 h 609603"/>
              <a:gd name="connisteX5" fmla="*/ 0 w 1270001"/>
              <a:gd name="connsiteY5" fmla="*/ 406395 h 609603"/>
              <a:gd name="connisteX6" fmla="*/ 0 w 1270001"/>
              <a:gd name="connsiteY6" fmla="*/ 0 h 6096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70001" h="609603">
                <a:moveTo>
                  <a:pt x="0" y="0"/>
                </a:moveTo>
                <a:lnTo>
                  <a:pt x="1270001" y="0"/>
                </a:lnTo>
                <a:lnTo>
                  <a:pt x="1270001" y="406396"/>
                </a:lnTo>
                <a:cubicBezTo>
                  <a:pt x="1270001" y="518620"/>
                  <a:pt x="1179027" y="609603"/>
                  <a:pt x="1066803" y="609603"/>
                </a:cubicBezTo>
                <a:lnTo>
                  <a:pt x="203198" y="609603"/>
                </a:lnTo>
                <a:cubicBezTo>
                  <a:pt x="90974" y="609603"/>
                  <a:pt x="0" y="518620"/>
                  <a:pt x="0" y="406396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  <p:custDataLst>
              <p:tags r:id="rId8"/>
            </p:custDataLst>
          </p:nvPr>
        </p:nvSpPr>
        <p:spPr>
          <a:xfrm>
            <a:off x="1015999" y="2012948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20XX YEAR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1016000" y="2520950"/>
            <a:ext cx="9410700" cy="2489200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科技风年终总结汇报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5" hasCustomPrompt="1"/>
            <p:custDataLst>
              <p:tags r:id="rId10"/>
            </p:custDataLst>
          </p:nvPr>
        </p:nvSpPr>
        <p:spPr>
          <a:xfrm>
            <a:off x="1015999" y="518794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1041401" y="2476497"/>
            <a:ext cx="2336800" cy="1917700"/>
          </a:xfrm>
          <a:custGeom>
            <a:avLst/>
            <a:gdLst>
              <a:gd name="connisteX0" fmla="*/ 643728 w 2337078"/>
              <a:gd name="connsiteY0" fmla="*/ 197949 h 1917697"/>
              <a:gd name="connisteX1" fmla="*/ 929185 w 2337078"/>
              <a:gd name="connsiteY1" fmla="*/ 0 h 1917697"/>
              <a:gd name="connisteX2" fmla="*/ 2337078 w 2337078"/>
              <a:gd name="connsiteY2" fmla="*/ 0 h 1917697"/>
              <a:gd name="connisteX3" fmla="*/ 1693340 w 2337078"/>
              <a:gd name="connsiteY3" fmla="*/ 1719748 h 1917697"/>
              <a:gd name="connisteX4" fmla="*/ 1407883 w 2337078"/>
              <a:gd name="connsiteY4" fmla="*/ 1917697 h 1917697"/>
              <a:gd name="connisteX5" fmla="*/ 0 w 2337078"/>
              <a:gd name="connsiteY5" fmla="*/ 1917697 h 1917697"/>
              <a:gd name="connisteX6" fmla="*/ 643728 w 2337078"/>
              <a:gd name="connsiteY6" fmla="*/ 197949 h 1917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37078" h="1917698">
                <a:moveTo>
                  <a:pt x="643728" y="197949"/>
                </a:moveTo>
                <a:cubicBezTo>
                  <a:pt x="688296" y="78894"/>
                  <a:pt x="802066" y="0"/>
                  <a:pt x="929186" y="0"/>
                </a:cubicBezTo>
                <a:lnTo>
                  <a:pt x="2337078" y="0"/>
                </a:lnTo>
                <a:lnTo>
                  <a:pt x="1693341" y="1719749"/>
                </a:lnTo>
                <a:cubicBezTo>
                  <a:pt x="1648773" y="1838804"/>
                  <a:pt x="1535012" y="1917698"/>
                  <a:pt x="1407883" y="1917698"/>
                </a:cubicBezTo>
                <a:lnTo>
                  <a:pt x="0" y="1917698"/>
                </a:lnTo>
                <a:lnTo>
                  <a:pt x="643728" y="197949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733800" y="2284095"/>
            <a:ext cx="7131685" cy="228981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68302" y="2351450"/>
            <a:ext cx="2451104" cy="2117741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100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</a:t>
            </a:r>
            <a:r>
              <a:rPr lang="en-US" altLang="zh-CN" smtClean="0"/>
              <a:t>1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5156201" y="2882902"/>
            <a:ext cx="1879600" cy="165100"/>
          </a:xfrm>
          <a:custGeom>
            <a:avLst/>
            <a:gdLst>
              <a:gd name="connisteX0" fmla="*/ 0 w 1879604"/>
              <a:gd name="connsiteY0" fmla="*/ 82552 h 165104"/>
              <a:gd name="connisteX1" fmla="*/ 82552 w 1879604"/>
              <a:gd name="connsiteY1" fmla="*/ 0 h 165104"/>
              <a:gd name="connisteX2" fmla="*/ 1797052 w 1879604"/>
              <a:gd name="connsiteY2" fmla="*/ 0 h 165104"/>
              <a:gd name="connisteX3" fmla="*/ 1879604 w 1879604"/>
              <a:gd name="connsiteY3" fmla="*/ 82552 h 165104"/>
              <a:gd name="connisteX4" fmla="*/ 1879604 w 1879604"/>
              <a:gd name="connsiteY4" fmla="*/ 82552 h 165104"/>
              <a:gd name="connisteX5" fmla="*/ 1797052 w 1879604"/>
              <a:gd name="connsiteY5" fmla="*/ 165104 h 165104"/>
              <a:gd name="connisteX6" fmla="*/ 82552 w 1879604"/>
              <a:gd name="connsiteY6" fmla="*/ 165104 h 165104"/>
              <a:gd name="connisteX7" fmla="*/ 0 w 1879604"/>
              <a:gd name="connsiteY7" fmla="*/ 82552 h 165104"/>
              <a:gd name="connisteX8" fmla="*/ 0 w 1879604"/>
              <a:gd name="connsiteY8" fmla="*/ 82552 h 1651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879604" h="165104">
                <a:moveTo>
                  <a:pt x="0" y="82552"/>
                </a:moveTo>
                <a:cubicBezTo>
                  <a:pt x="0" y="36960"/>
                  <a:pt x="36960" y="0"/>
                  <a:pt x="82552" y="0"/>
                </a:cubicBezTo>
                <a:lnTo>
                  <a:pt x="1797052" y="0"/>
                </a:lnTo>
                <a:cubicBezTo>
                  <a:pt x="1842644" y="0"/>
                  <a:pt x="1879604" y="36960"/>
                  <a:pt x="1879604" y="82552"/>
                </a:cubicBezTo>
                <a:lnTo>
                  <a:pt x="1879604" y="82552"/>
                </a:lnTo>
                <a:cubicBezTo>
                  <a:pt x="1879604" y="128144"/>
                  <a:pt x="1842644" y="165104"/>
                  <a:pt x="1797052" y="165104"/>
                </a:cubicBezTo>
                <a:lnTo>
                  <a:pt x="82552" y="165104"/>
                </a:lnTo>
                <a:cubicBezTo>
                  <a:pt x="36960" y="165104"/>
                  <a:pt x="0" y="128144"/>
                  <a:pt x="0" y="82552"/>
                </a:cubicBezTo>
                <a:lnTo>
                  <a:pt x="0" y="8255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3898901" y="2613657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0" name="标题 9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3835396" y="320674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任意多边形 4"/>
          <p:cNvSpPr/>
          <p:nvPr userDrawn="1">
            <p:custDataLst>
              <p:tags r:id="rId5"/>
            </p:custDataLst>
          </p:nvPr>
        </p:nvSpPr>
        <p:spPr>
          <a:xfrm>
            <a:off x="10921996" y="6349996"/>
            <a:ext cx="1270000" cy="508635"/>
          </a:xfrm>
          <a:custGeom>
            <a:avLst/>
            <a:gdLst>
              <a:gd name="connisteX0" fmla="*/ 0 w 1270001"/>
              <a:gd name="connsiteY0" fmla="*/ 203197 h 508004"/>
              <a:gd name="connisteX1" fmla="*/ 203197 w 1270001"/>
              <a:gd name="connsiteY1" fmla="*/ 0 h 508004"/>
              <a:gd name="connisteX2" fmla="*/ 1270001 w 1270001"/>
              <a:gd name="connsiteY2" fmla="*/ 0 h 508004"/>
              <a:gd name="connisteX3" fmla="*/ 1270001 w 1270001"/>
              <a:gd name="connsiteY3" fmla="*/ 508004 h 508004"/>
              <a:gd name="connisteX4" fmla="*/ 0 w 1270001"/>
              <a:gd name="connsiteY4" fmla="*/ 508004 h 508004"/>
              <a:gd name="connisteX5" fmla="*/ 0 w 1270001"/>
              <a:gd name="connsiteY5" fmla="*/ 203197 h 508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70001" h="508004">
                <a:moveTo>
                  <a:pt x="0" y="203198"/>
                </a:moveTo>
                <a:cubicBezTo>
                  <a:pt x="0" y="90974"/>
                  <a:pt x="90974" y="0"/>
                  <a:pt x="203198" y="0"/>
                </a:cubicBezTo>
                <a:lnTo>
                  <a:pt x="1270001" y="0"/>
                </a:lnTo>
                <a:lnTo>
                  <a:pt x="1270001" y="508004"/>
                </a:lnTo>
                <a:lnTo>
                  <a:pt x="0" y="508004"/>
                </a:lnTo>
                <a:lnTo>
                  <a:pt x="0" y="203198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C:/Users/win10/AppData/Local/Temp/figmazip/slide_935eabbb91aa80f5\datas\氛围图-12001&amp;66983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7" name="副标题 6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609603" y="2766057"/>
            <a:ext cx="24384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  <p:sp>
        <p:nvSpPr>
          <p:cNvPr id="8" name="标题 7"/>
          <p:cNvSpPr>
            <a:spLocks noGrp="1"/>
          </p:cNvSpPr>
          <p:nvPr>
            <p:ph type="ctrTitle" idx="14" hasCustomPrompt="1"/>
            <p:custDataLst>
              <p:tags r:id="rId10"/>
            </p:custDataLst>
          </p:nvPr>
        </p:nvSpPr>
        <p:spPr>
          <a:xfrm>
            <a:off x="609603" y="3289298"/>
            <a:ext cx="2501899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6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0 h 2540000"/>
              <a:gd name="connisteX1" fmla="*/ 10972800 w 10972800"/>
              <a:gd name="connsiteY1" fmla="*/ 0 h 2540000"/>
              <a:gd name="connisteX2" fmla="*/ 10972800 w 10972800"/>
              <a:gd name="connsiteY2" fmla="*/ 2540000 h 2540000"/>
              <a:gd name="connisteX3" fmla="*/ 0 w 10972800"/>
              <a:gd name="connsiteY3" fmla="*/ 2540000 h 2540000"/>
              <a:gd name="connisteX4" fmla="*/ 0 w 10972800"/>
              <a:gd name="connsiteY4" fmla="*/ 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972800" h="2540000">
                <a:moveTo>
                  <a:pt x="0" y="0"/>
                </a:moveTo>
                <a:lnTo>
                  <a:pt x="10972800" y="0"/>
                </a:lnTo>
                <a:lnTo>
                  <a:pt x="10972800" y="2540000"/>
                </a:lnTo>
                <a:lnTo>
                  <a:pt x="0" y="2540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0 h 1727200"/>
              <a:gd name="connisteX1" fmla="*/ 50800 w 50800"/>
              <a:gd name="connsiteY1" fmla="*/ 0 h 1727200"/>
              <a:gd name="connisteX2" fmla="*/ 50800 w 50800"/>
              <a:gd name="connsiteY2" fmla="*/ 1727200 h 1727200"/>
              <a:gd name="connisteX3" fmla="*/ 0 w 50800"/>
              <a:gd name="connsiteY3" fmla="*/ 1727200 h 1727200"/>
              <a:gd name="connisteX4" fmla="*/ 0 w 50800"/>
              <a:gd name="connsiteY4" fmla="*/ 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167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2895600" y="4521200"/>
            <a:ext cx="50800" cy="1727200"/>
          </a:xfrm>
          <a:custGeom>
            <a:avLst/>
            <a:gdLst>
              <a:gd name="connisteX0" fmla="*/ 0 w 50800"/>
              <a:gd name="connsiteY0" fmla="*/ 0 h 1727200"/>
              <a:gd name="connisteX1" fmla="*/ 50800 w 50800"/>
              <a:gd name="connsiteY1" fmla="*/ 0 h 1727200"/>
              <a:gd name="connisteX2" fmla="*/ 50800 w 50800"/>
              <a:gd name="connsiteY2" fmla="*/ 1727200 h 1727200"/>
              <a:gd name="connisteX3" fmla="*/ 0 w 50800"/>
              <a:gd name="connsiteY3" fmla="*/ 1727200 h 1727200"/>
              <a:gd name="connisteX4" fmla="*/ 0 w 50800"/>
              <a:gd name="connsiteY4" fmla="*/ 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048000" y="4521200"/>
            <a:ext cx="167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048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5181600" y="4521200"/>
            <a:ext cx="50800" cy="1727200"/>
          </a:xfrm>
          <a:custGeom>
            <a:avLst/>
            <a:gdLst>
              <a:gd name="connisteX0" fmla="*/ 0 w 50800"/>
              <a:gd name="connsiteY0" fmla="*/ 0 h 1727200"/>
              <a:gd name="connisteX1" fmla="*/ 50800 w 50800"/>
              <a:gd name="connsiteY1" fmla="*/ 0 h 1727200"/>
              <a:gd name="connisteX2" fmla="*/ 50800 w 50800"/>
              <a:gd name="connsiteY2" fmla="*/ 1727200 h 1727200"/>
              <a:gd name="connisteX3" fmla="*/ 0 w 50800"/>
              <a:gd name="connsiteY3" fmla="*/ 1727200 h 1727200"/>
              <a:gd name="connisteX4" fmla="*/ 0 w 50800"/>
              <a:gd name="connsiteY4" fmla="*/ 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334000" y="4521200"/>
            <a:ext cx="167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334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7467600" y="4521200"/>
            <a:ext cx="50800" cy="1727200"/>
          </a:xfrm>
          <a:custGeom>
            <a:avLst/>
            <a:gdLst>
              <a:gd name="connisteX0" fmla="*/ 0 w 50800"/>
              <a:gd name="connsiteY0" fmla="*/ 0 h 1727200"/>
              <a:gd name="connisteX1" fmla="*/ 50800 w 50800"/>
              <a:gd name="connsiteY1" fmla="*/ 0 h 1727200"/>
              <a:gd name="connisteX2" fmla="*/ 50800 w 50800"/>
              <a:gd name="connsiteY2" fmla="*/ 1727200 h 1727200"/>
              <a:gd name="connisteX3" fmla="*/ 0 w 50800"/>
              <a:gd name="connsiteY3" fmla="*/ 1727200 h 1727200"/>
              <a:gd name="connisteX4" fmla="*/ 0 w 50800"/>
              <a:gd name="connsiteY4" fmla="*/ 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7620000" y="4521200"/>
            <a:ext cx="167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7620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装饰  4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9753600" y="4521200"/>
            <a:ext cx="50800" cy="1727200"/>
          </a:xfrm>
          <a:custGeom>
            <a:avLst/>
            <a:gdLst>
              <a:gd name="connisteX0" fmla="*/ 0 w 50800"/>
              <a:gd name="connsiteY0" fmla="*/ 0 h 1727200"/>
              <a:gd name="connisteX1" fmla="*/ 50800 w 50800"/>
              <a:gd name="connsiteY1" fmla="*/ 0 h 1727200"/>
              <a:gd name="connisteX2" fmla="*/ 50800 w 50800"/>
              <a:gd name="connsiteY2" fmla="*/ 1727200 h 1727200"/>
              <a:gd name="connisteX3" fmla="*/ 0 w 50800"/>
              <a:gd name="connsiteY3" fmla="*/ 1727200 h 1727200"/>
              <a:gd name="connisteX4" fmla="*/ 0 w 50800"/>
              <a:gd name="connsiteY4" fmla="*/ 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4" hasCustomPrompt="1"/>
            <p:custDataLst>
              <p:tags r:id="rId20"/>
            </p:custDataLst>
          </p:nvPr>
        </p:nvSpPr>
        <p:spPr>
          <a:xfrm>
            <a:off x="9906000" y="4521200"/>
            <a:ext cx="1676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9906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692400 h 2692400"/>
              <a:gd name="connisteX3" fmla="*/ 0 w 3454400"/>
              <a:gd name="connsiteY3" fmla="*/ 2692400 h 2692400"/>
              <a:gd name="connisteX4" fmla="*/ 0 w 3454400"/>
              <a:gd name="connsiteY4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692400 h 2692400"/>
              <a:gd name="connisteX3" fmla="*/ 0 w 3454400"/>
              <a:gd name="connsiteY3" fmla="*/ 2692400 h 2692400"/>
              <a:gd name="connisteX4" fmla="*/ 0 w 3454400"/>
              <a:gd name="connsiteY4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692400 h 2692400"/>
              <a:gd name="connisteX3" fmla="*/ 0 w 3454400"/>
              <a:gd name="connsiteY3" fmla="*/ 2692400 h 2692400"/>
              <a:gd name="connisteX4" fmla="*/ 0 w 3454400"/>
              <a:gd name="connsiteY4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401" hasCustomPrompt="1"/>
            <p:custDataLst>
              <p:tags r:id="rId6"/>
            </p:custDataLst>
          </p:nvPr>
        </p:nvSpPr>
        <p:spPr>
          <a:xfrm>
            <a:off x="1066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250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302000"/>
            <a:ext cx="182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3810000"/>
            <a:ext cx="1828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402" hasCustomPrompt="1"/>
            <p:custDataLst>
              <p:tags r:id="rId10"/>
            </p:custDataLst>
          </p:nvPr>
        </p:nvSpPr>
        <p:spPr>
          <a:xfrm>
            <a:off x="3352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536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2895600" y="3302000"/>
            <a:ext cx="182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895600" y="3810000"/>
            <a:ext cx="1828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403" hasCustomPrompt="1"/>
            <p:custDataLst>
              <p:tags r:id="rId14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5181600" y="3302000"/>
            <a:ext cx="182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5181600" y="3810000"/>
            <a:ext cx="1828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7924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8108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467600" y="3302000"/>
            <a:ext cx="182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467600" y="3810000"/>
            <a:ext cx="1828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10210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idx="16400" hasCustomPrompt="1"/>
            <p:custDataLst>
              <p:tags r:id="rId23"/>
            </p:custDataLst>
          </p:nvPr>
        </p:nvSpPr>
        <p:spPr>
          <a:xfrm>
            <a:off x="10394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idx="16398" hasCustomPrompt="1"/>
            <p:custDataLst>
              <p:tags r:id="rId24"/>
            </p:custDataLst>
          </p:nvPr>
        </p:nvSpPr>
        <p:spPr>
          <a:xfrm>
            <a:off x="9753600" y="3302000"/>
            <a:ext cx="182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idx="16399" hasCustomPrompt="1"/>
            <p:custDataLst>
              <p:tags r:id="rId25"/>
            </p:custDataLst>
          </p:nvPr>
        </p:nvSpPr>
        <p:spPr>
          <a:xfrm>
            <a:off x="9753600" y="3810000"/>
            <a:ext cx="1828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35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8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343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8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6343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8" hasCustomPrompt="1"/>
            <p:custDataLst>
              <p:tags r:id="rId6"/>
            </p:custDataLst>
          </p:nvPr>
        </p:nvSpPr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38400" y="15875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38400" y="21463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9" hasCustomPrompt="1"/>
            <p:custDataLst>
              <p:tags r:id="rId9"/>
            </p:custDataLst>
          </p:nvPr>
        </p:nvSpPr>
        <p:spPr>
          <a:xfrm>
            <a:off x="43688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197600" y="15875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197600" y="21463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6400" hasCustomPrompt="1"/>
            <p:custDataLst>
              <p:tags r:id="rId12"/>
            </p:custDataLst>
          </p:nvPr>
        </p:nvSpPr>
        <p:spPr>
          <a:xfrm>
            <a:off x="81280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9956800" y="15875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9956800" y="21463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内容占位符 20"/>
          <p:cNvSpPr>
            <a:spLocks noGrp="1"/>
          </p:cNvSpPr>
          <p:nvPr>
            <p:ph idx="16401" hasCustomPrompt="1"/>
            <p:custDataLst>
              <p:tags r:id="rId15"/>
            </p:custDataLst>
          </p:nvPr>
        </p:nvSpPr>
        <p:spPr>
          <a:xfrm>
            <a:off x="60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2438400" y="41021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2438400" y="46609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内容占位符 23"/>
          <p:cNvSpPr>
            <a:spLocks noGrp="1"/>
          </p:cNvSpPr>
          <p:nvPr>
            <p:ph idx="16402" hasCustomPrompt="1"/>
            <p:custDataLst>
              <p:tags r:id="rId18"/>
            </p:custDataLst>
          </p:nvPr>
        </p:nvSpPr>
        <p:spPr>
          <a:xfrm>
            <a:off x="43688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6197600" y="41021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6197600" y="46609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内容占位符 26"/>
          <p:cNvSpPr>
            <a:spLocks noGrp="1"/>
          </p:cNvSpPr>
          <p:nvPr>
            <p:ph idx="16403" hasCustomPrompt="1"/>
            <p:custDataLst>
              <p:tags r:id="rId21"/>
            </p:custDataLst>
          </p:nvPr>
        </p:nvSpPr>
        <p:spPr>
          <a:xfrm>
            <a:off x="81280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6" hasCustomPrompt="1"/>
            <p:custDataLst>
              <p:tags r:id="rId22"/>
            </p:custDataLst>
          </p:nvPr>
        </p:nvSpPr>
        <p:spPr>
          <a:xfrm>
            <a:off x="9956800" y="4102100"/>
            <a:ext cx="1625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idx="16397" hasCustomPrompt="1"/>
            <p:custDataLst>
              <p:tags r:id="rId23"/>
            </p:custDataLst>
          </p:nvPr>
        </p:nvSpPr>
        <p:spPr>
          <a:xfrm>
            <a:off x="9956800" y="4660900"/>
            <a:ext cx="1625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19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0 h 5638800"/>
              <a:gd name="connisteX1" fmla="*/ 6934200 w 6934200"/>
              <a:gd name="connsiteY1" fmla="*/ 0 h 5638800"/>
              <a:gd name="connisteX2" fmla="*/ 6934200 w 6934200"/>
              <a:gd name="connsiteY2" fmla="*/ 5638800 h 5638800"/>
              <a:gd name="connisteX3" fmla="*/ 0 w 6934200"/>
              <a:gd name="connsiteY3" fmla="*/ 5638800 h 5638800"/>
              <a:gd name="connisteX4" fmla="*/ 0 w 69342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5638800">
                <a:moveTo>
                  <a:pt x="0" y="0"/>
                </a:moveTo>
                <a:lnTo>
                  <a:pt x="6934200" y="0"/>
                </a:lnTo>
                <a:lnTo>
                  <a:pt x="69342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5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目录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0 h 762000"/>
              <a:gd name="connisteX1" fmla="*/ 25400 w 25400"/>
              <a:gd name="connsiteY1" fmla="*/ 0 h 762000"/>
              <a:gd name="connisteX2" fmla="*/ 25400 w 25400"/>
              <a:gd name="connsiteY2" fmla="*/ 762000 h 762000"/>
              <a:gd name="connisteX3" fmla="*/ 0 w 25400"/>
              <a:gd name="connsiteY3" fmla="*/ 762000 h 762000"/>
              <a:gd name="connisteX4" fmla="*/ 0 w 25400"/>
              <a:gd name="connsiteY4" fmla="*/ 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0 h 762000"/>
              <a:gd name="connisteX1" fmla="*/ 25400 w 25400"/>
              <a:gd name="connsiteY1" fmla="*/ 0 h 762000"/>
              <a:gd name="connisteX2" fmla="*/ 25400 w 25400"/>
              <a:gd name="connsiteY2" fmla="*/ 762000 h 762000"/>
              <a:gd name="connisteX3" fmla="*/ 0 w 25400"/>
              <a:gd name="connsiteY3" fmla="*/ 762000 h 762000"/>
              <a:gd name="connisteX4" fmla="*/ 0 w 25400"/>
              <a:gd name="connsiteY4" fmla="*/ 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0 h 762000"/>
              <a:gd name="connisteX1" fmla="*/ 25400 w 25400"/>
              <a:gd name="connsiteY1" fmla="*/ 0 h 762000"/>
              <a:gd name="connisteX2" fmla="*/ 25400 w 25400"/>
              <a:gd name="connsiteY2" fmla="*/ 762000 h 762000"/>
              <a:gd name="connisteX3" fmla="*/ 0 w 25400"/>
              <a:gd name="connsiteY3" fmla="*/ 762000 h 762000"/>
              <a:gd name="connisteX4" fmla="*/ 0 w 25400"/>
              <a:gd name="connsiteY4" fmla="*/ 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tags" Target="../tags/tag108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image" Target="../media/image3.png"/><Relationship Id="rId16" Type="http://schemas.openxmlformats.org/officeDocument/2006/relationships/tags" Target="../tags/tag10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1" Type="http://schemas.openxmlformats.org/officeDocument/2006/relationships/theme" Target="../theme/theme3.xml"/><Relationship Id="rId20" Type="http://schemas.openxmlformats.org/officeDocument/2006/relationships/tags" Target="../tags/tag281.xml"/><Relationship Id="rId2" Type="http://schemas.openxmlformats.org/officeDocument/2006/relationships/slideLayout" Target="../slideLayouts/slideLayout27.xml"/><Relationship Id="rId19" Type="http://schemas.openxmlformats.org/officeDocument/2006/relationships/tags" Target="../tags/tag280.xml"/><Relationship Id="rId18" Type="http://schemas.openxmlformats.org/officeDocument/2006/relationships/tags" Target="../tags/tag279.xml"/><Relationship Id="rId17" Type="http://schemas.openxmlformats.org/officeDocument/2006/relationships/tags" Target="../tags/tag278.xml"/><Relationship Id="rId16" Type="http://schemas.openxmlformats.org/officeDocument/2006/relationships/tags" Target="../tags/tag277.xml"/><Relationship Id="rId15" Type="http://schemas.openxmlformats.org/officeDocument/2006/relationships/tags" Target="../tags/tag276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image" Target="../media/image3.png"/><Relationship Id="rId11" Type="http://schemas.openxmlformats.org/officeDocument/2006/relationships/tags" Target="../tags/tag273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IT科技风主题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318"/>
            <a:ext cx="12190730" cy="6857365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刚艺体-85W" panose="00020600040101010101" charset="-122"/>
                <a:ea typeface="汉仪刚艺体-85W" panose="00020600040101010101" charset="-122"/>
              </a:rPr>
              <a:t>单击此处编辑母版标题样式</a:t>
            </a:r>
            <a:endParaRPr lang="zh-CN" altLang="en-US" dirty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Normal" panose="000005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IT科技风主题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3"/>
            </p:custDataLst>
          </p:nvPr>
        </p:nvSpPr>
        <p:spPr>
          <a:xfrm>
            <a:off x="0" y="318"/>
            <a:ext cx="12190730" cy="6857365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刚艺体-85W" panose="00020600040101010101" charset="-122"/>
                <a:ea typeface="汉仪刚艺体-85W" panose="00020600040101010101" charset="-122"/>
              </a:rPr>
              <a:t>单击此处编辑母版标题样式</a:t>
            </a:r>
            <a:endParaRPr lang="zh-CN" altLang="en-US" dirty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Normal" panose="000005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6" Type="http://schemas.openxmlformats.org/officeDocument/2006/relationships/slideLayout" Target="../slideLayouts/slideLayout35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tags" Target="../tags/tag28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3" Type="http://schemas.openxmlformats.org/officeDocument/2006/relationships/slideLayout" Target="../slideLayouts/slideLayout33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325.xml"/><Relationship Id="rId21" Type="http://schemas.openxmlformats.org/officeDocument/2006/relationships/slideLayout" Target="../slideLayouts/slideLayout31.xml"/><Relationship Id="rId20" Type="http://schemas.openxmlformats.org/officeDocument/2006/relationships/tags" Target="../tags/tag336.xml"/><Relationship Id="rId2" Type="http://schemas.openxmlformats.org/officeDocument/2006/relationships/tags" Target="../tags/tag324.xml"/><Relationship Id="rId19" Type="http://schemas.openxmlformats.org/officeDocument/2006/relationships/tags" Target="../tags/tag335.xml"/><Relationship Id="rId18" Type="http://schemas.openxmlformats.org/officeDocument/2006/relationships/tags" Target="../tags/tag334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3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image" Target="../media/image11.jpeg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image" Target="../media/image10.jpeg"/><Relationship Id="rId27" Type="http://schemas.openxmlformats.org/officeDocument/2006/relationships/slideLayout" Target="../slideLayouts/slideLayout30.xml"/><Relationship Id="rId26" Type="http://schemas.openxmlformats.org/officeDocument/2006/relationships/tags" Target="../tags/tag356.xml"/><Relationship Id="rId25" Type="http://schemas.openxmlformats.org/officeDocument/2006/relationships/tags" Target="../tags/tag355.xml"/><Relationship Id="rId24" Type="http://schemas.openxmlformats.org/officeDocument/2006/relationships/tags" Target="../tags/tag354.xml"/><Relationship Id="rId23" Type="http://schemas.openxmlformats.org/officeDocument/2006/relationships/image" Target="../media/image15.jpeg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8.xml"/><Relationship Id="rId19" Type="http://schemas.openxmlformats.org/officeDocument/2006/relationships/image" Target="../media/image14.jpeg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image" Target="../media/image13.jpeg"/><Relationship Id="rId14" Type="http://schemas.openxmlformats.org/officeDocument/2006/relationships/tags" Target="../tags/tag347.xml"/><Relationship Id="rId13" Type="http://schemas.openxmlformats.org/officeDocument/2006/relationships/tags" Target="../tags/tag346.xml"/><Relationship Id="rId12" Type="http://schemas.openxmlformats.org/officeDocument/2006/relationships/tags" Target="../tags/tag345.xml"/><Relationship Id="rId11" Type="http://schemas.openxmlformats.org/officeDocument/2006/relationships/image" Target="../media/image12.jpeg"/><Relationship Id="rId10" Type="http://schemas.openxmlformats.org/officeDocument/2006/relationships/tags" Target="../tags/tag344.xml"/><Relationship Id="rId1" Type="http://schemas.openxmlformats.org/officeDocument/2006/relationships/tags" Target="../tags/tag33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5" Type="http://schemas.openxmlformats.org/officeDocument/2006/relationships/slideLayout" Target="../slideLayouts/slideLayout29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tags" Target="../tags/tag36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82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3" Type="http://schemas.openxmlformats.org/officeDocument/2006/relationships/slideLayout" Target="../slideLayouts/slideLayout28.xml"/><Relationship Id="rId22" Type="http://schemas.openxmlformats.org/officeDocument/2006/relationships/tags" Target="../tags/tag395.xml"/><Relationship Id="rId21" Type="http://schemas.openxmlformats.org/officeDocument/2006/relationships/tags" Target="../tags/tag394.xml"/><Relationship Id="rId20" Type="http://schemas.openxmlformats.org/officeDocument/2006/relationships/tags" Target="../tags/tag393.xml"/><Relationship Id="rId2" Type="http://schemas.openxmlformats.org/officeDocument/2006/relationships/tags" Target="../tags/tag375.xml"/><Relationship Id="rId19" Type="http://schemas.openxmlformats.org/officeDocument/2006/relationships/tags" Target="../tags/tag392.xml"/><Relationship Id="rId18" Type="http://schemas.openxmlformats.org/officeDocument/2006/relationships/tags" Target="../tags/tag391.xml"/><Relationship Id="rId17" Type="http://schemas.openxmlformats.org/officeDocument/2006/relationships/tags" Target="../tags/tag390.xml"/><Relationship Id="rId16" Type="http://schemas.openxmlformats.org/officeDocument/2006/relationships/tags" Target="../tags/tag389.xml"/><Relationship Id="rId15" Type="http://schemas.openxmlformats.org/officeDocument/2006/relationships/tags" Target="../tags/tag388.xml"/><Relationship Id="rId14" Type="http://schemas.openxmlformats.org/officeDocument/2006/relationships/tags" Target="../tags/tag387.xml"/><Relationship Id="rId13" Type="http://schemas.openxmlformats.org/officeDocument/2006/relationships/tags" Target="../tags/tag386.xml"/><Relationship Id="rId12" Type="http://schemas.openxmlformats.org/officeDocument/2006/relationships/tags" Target="../tags/tag385.xml"/><Relationship Id="rId11" Type="http://schemas.openxmlformats.org/officeDocument/2006/relationships/tags" Target="../tags/tag384.xml"/><Relationship Id="rId10" Type="http://schemas.openxmlformats.org/officeDocument/2006/relationships/tags" Target="../tags/tag383.xml"/><Relationship Id="rId1" Type="http://schemas.openxmlformats.org/officeDocument/2006/relationships/tags" Target="../tags/tag37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image" Target="../media/image16.jpeg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8" Type="http://schemas.openxmlformats.org/officeDocument/2006/relationships/slideLayout" Target="../slideLayouts/slideLayout27.xml"/><Relationship Id="rId17" Type="http://schemas.openxmlformats.org/officeDocument/2006/relationships/tags" Target="../tags/tag409.xml"/><Relationship Id="rId16" Type="http://schemas.openxmlformats.org/officeDocument/2006/relationships/tags" Target="../tags/tag408.xml"/><Relationship Id="rId15" Type="http://schemas.openxmlformats.org/officeDocument/2006/relationships/tags" Target="../tags/tag407.xml"/><Relationship Id="rId14" Type="http://schemas.openxmlformats.org/officeDocument/2006/relationships/image" Target="../media/image18.jpeg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tags" Target="../tags/tag403.xml"/><Relationship Id="rId1" Type="http://schemas.openxmlformats.org/officeDocument/2006/relationships/tags" Target="../tags/tag3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" Type="http://schemas.openxmlformats.org/officeDocument/2006/relationships/tags" Target="../tags/tag4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>
          <a:xfrm>
            <a:off x="1015999" y="4659628"/>
            <a:ext cx="9296403" cy="457200"/>
          </a:xfrm>
        </p:spPr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时间：</a:t>
            </a:r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2025/12/25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1016000" y="2520950"/>
            <a:ext cx="9436735" cy="1160145"/>
          </a:xfrm>
        </p:spPr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动态网格交易模型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汇报人: </a:t>
            </a:r>
            <a:r>
              <a:rPr lang="en-US" altLang="zh-CN">
                <a:solidFill>
                  <a:srgbClr val="FFFFFF"/>
                </a:solidFill>
                <a:uFillTx/>
                <a:latin typeface="MiSans Normal" panose="00000500000000000000" charset="-122"/>
                <a:ea typeface="MiSans Normal" panose="00000500000000000000" charset="-122"/>
              </a:rPr>
              <a:t>Meow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目录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14" name="装饰  8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传统网格的意义和问题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6" name="装饰  1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网格策略演进与分析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8" name="装饰  4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动态网格交易模型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20" name="装饰  7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回测与实盘展示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传统网格的意义和问题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网格交易策略的理论意义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无限资源下的理论优势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在无限资金和时间的理想条件下，网格交易策略能把握每一次价格波动，持续低价买入高价卖出。从容应对市场低迷，等待最佳时机，理论上能长期保持正收益，为投资提供了一种稳健的策略基础。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风险分散理论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基于“价格变化不可预测性”假设，网格交易策略将风险分散到每笔交易中，降低投资风险。收益在一定周期内逐步累积，即使在市场不稳定时，也能保持相对稳定的表现，增强了投资的安全性。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自动化交易优势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该策略简洁，无需大量计算和指标解读，可自动化执行，降低管理成本，避免心理压力。而且无需预测市场，波动幅度越大，收益越高，适用于各种波动的市场环境，提高了投资效率。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适用市场环境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在高波动性市场和震荡市场中，网格交易策略能频繁捕获套利机会，实现低买高卖获得稳定收益。同时，良好的流动性确保交易及时执行，尤其适用于价格有中长期趋势但短期波动的市场。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实证验证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5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基于加密货币市场的实证研究表明，网格交易策略表现优异。在价格呈现中长期趋势但短期存在波动的市场中特别适用，为该策略在实际市场中的应用提供了有力支持。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4868704" cy="586152"/>
          </a:xfrm>
        </p:spPr>
        <p:txBody>
          <a:bodyPr>
            <a:normAutofit fontScale="90000"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传统网格策略的核心问题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>
          <a:xfrm>
            <a:off x="656242" y="1377691"/>
            <a:ext cx="10926158" cy="4870709"/>
          </a:xfrm>
        </p:spPr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814564" y="1628030"/>
            <a:ext cx="10609459" cy="3816827"/>
          </a:xfrm>
        </p:spPr>
        <p:txBody>
          <a:bodyPr>
            <a:noAutofit/>
          </a:bodyPr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零期望值问题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数学证明，有限资源条件下传统网格期望值 E(G) = 0，公式为 E(G) = 1/2 × (Pu - Ll) = -M/n × (n²/8 - n/4)。根本原因是突破边界即停止，考虑交易费用后期望值 &lt; 0，只有套利机会足够多才能产生正期望值。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覆盖范围有限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传统网格受数学限制，如 50 层网格每层 1%仅能覆盖 50%价格波动。价格下跌超过覆盖范围时网格停止运行，其覆盖范围由层级数和间距决定，是固定有限的值，难以应对大幅价格变化。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参数设置僵化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等距和等比例网格都采用固定参数设置，无法适应不同资产特性。在高波动市场易错失机会，低波动市场则过度交易，缺乏灵活性，限制了策略在不同市场环境下的有效性。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缺乏市场择时能力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传统网格设定即开仓，不考虑市场当前状态，容易在市场极端情况下盲目开仓。无法根据信号决定启动和关闭时机，导致策略可能在不利时机入场，增加投资风险。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交易执行粗糙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触发即执行的方式，容易在最高点或最低点执行交易，且缺乏回调等待机制，无法优化执行价格，降低了交易的质量和收益，影响了策略的实际效果。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风险控制不足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传统网格缺乏全局风控机制，在单边行情中面临巨大回撤，无法及时锁定收益或控制损失。不能有效应对市场的极端变化，可能导致投资者遭受较大损失。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Bef>
                <a:spcPct val="71000"/>
              </a:spcBef>
              <a:spcAft>
                <a:spcPct val="71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网格结构固定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spcAft>
                <a:spcPct val="100000"/>
              </a:spcAft>
            </a:pP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网格结构在策略启动时即固定，无法根据市场变化动态调整。不能在关键价格区域设置更密集网格，也无法实现多样化资金管理策略，缺乏对市场的适应性。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网格策略演进与分析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网格策略演进路径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6" name="图片占位符 15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1915160"/>
            <a:ext cx="487680" cy="48768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传统网格策略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传统网格策略核心机制是固定间距或比例，突破边界即停止。它存在期望值为零、覆盖范围有限以及参数僵化等问题，在有限资源条件下难以持续利用套利机会，实际表现受交易费用影响大。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5" name="图片占位符 14"/>
          <p:cNvPicPr/>
          <p:nvPr>
            <p:ph type="pic" idx="16394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" y="3642360"/>
            <a:ext cx="487680" cy="48768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灵活网格策略（Flexible Grid）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灵活网格策略将网格划分为上下两部分，以初始价格为界，实现了网格密度的自适应调整。在S&amp;P 500、纳斯达克、道琼斯等市场指数上ROI和夏普比率优于传统网格，但仍受固定公式约束，存在边界问题。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7" name="图片占位符 16"/>
          <p:cNvPicPr/>
          <p:nvPr>
            <p:ph type="pic" idx="16396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2960" y="5369560"/>
            <a:ext cx="487680" cy="48768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动态重置网格（DGT）策略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动态重置网格（DGT）策略当价格突破网格边界时不停止，而是重置网格，理论上能持续运作、利润再投资。回测显示年化回报率高，相比买入持有和传统网格表现更好，但也存在网格结构固定、缺乏择时等局限。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三种策略的对比分析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pic>
        <p:nvPicPr>
          <p:cNvPr id="3" name="内容占位符 2" descr="7c8088de-e17d-11f0-b241-a2400c670c37"/>
          <p:cNvPicPr>
            <a:picLocks noChangeAspect="1"/>
          </p:cNvPicPr>
          <p:nvPr>
            <p:ph idx="16398"/>
            <p:custDataLst>
              <p:tags r:id="rId2"/>
            </p:custDataLst>
          </p:nvPr>
        </p:nvPicPr>
        <p:blipFill>
          <a:blip r:embed="rId3"/>
          <a:srcRect l="19828" t="6171" r="20115" b="6746"/>
          <a:stretch>
            <a:fillRect/>
          </a:stretch>
        </p:blipFill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期望值问题对比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传统网格突破边界即停止，期望值E(G) = 0；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灵活网格仍存在边界问题，期望值同样为0；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DGT策略通过重置持续运作，期望值E(G) &gt; 0。不过DGT策略网格结构仍固定。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6" name="内容占位符 5" descr="7c808788-e17d-11f0-b241-a2400c670c37"/>
          <p:cNvPicPr>
            <a:picLocks noChangeAspect="1"/>
          </p:cNvPicPr>
          <p:nvPr>
            <p:ph idx="16399"/>
            <p:custDataLst>
              <p:tags r:id="rId6"/>
            </p:custDataLst>
          </p:nvPr>
        </p:nvPicPr>
        <p:blipFill>
          <a:blip r:embed="rId7"/>
          <a:srcRect l="15909" r="15909"/>
          <a:stretch>
            <a:fillRect/>
          </a:stretch>
        </p:blipFill>
        <p:spPr>
          <a:xfrm>
            <a:off x="43688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覆盖范围对比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传统网格和灵活网格覆盖范围均为固定值，如50层 × 1% = 50%，但灵活网格通过密度分布优化提升了交易机会。DGT策略虽初始覆盖为50层 × 1% = 50%，但可通过重置扩展应对范围。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9" name="内容占位符 8" descr="7c8086f8-e17d-11f0-b241-a2400c670c37"/>
          <p:cNvPicPr>
            <a:picLocks noChangeAspect="1"/>
          </p:cNvPicPr>
          <p:nvPr>
            <p:ph idx="16400"/>
            <p:custDataLst>
              <p:tags r:id="rId10"/>
            </p:custDataLst>
          </p:nvPr>
        </p:nvPicPr>
        <p:blipFill>
          <a:blip r:embed="rId11"/>
          <a:srcRect t="97" b="97"/>
          <a:stretch>
            <a:fillRect/>
          </a:stretch>
        </p:blipFill>
        <p:spPr>
          <a:xfrm>
            <a:off x="81280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参数配置对比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传统网格采用固定间距/比例；灵活网格为动态间距；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DGT策略是固定几何网格。灵活网格和DGT都扩展了参数空间，但仍受固定公式约束，无法完全适应不同资产特性。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2" name="内容占位符 11" descr="7c8086c6-e17d-11f0-b241-a2400c670c37"/>
          <p:cNvPicPr>
            <a:picLocks noChangeAspect="1"/>
          </p:cNvPicPr>
          <p:nvPr>
            <p:ph idx="16401"/>
            <p:custDataLst>
              <p:tags r:id="rId14"/>
            </p:custDataLst>
          </p:nvPr>
        </p:nvPicPr>
        <p:blipFill>
          <a:blip r:embed="rId15"/>
          <a:srcRect l="15517" r="15517"/>
          <a:stretch>
            <a:fillRect/>
          </a:stretch>
        </p:blipFill>
        <p:spPr>
          <a:xfrm>
            <a:off x="60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执行质量对比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三种策略都采用“触发即执行”机制，传统网格执行价格可能为极值，灵活网格可能在价格极端点位执行交易，DGT策略缺乏回调等待机制，整体执行质量有待提升。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5" name="内容占位符 14" descr="7c808843-e17d-11f0-b241-a2400c670c37"/>
          <p:cNvPicPr>
            <a:picLocks noChangeAspect="1"/>
          </p:cNvPicPr>
          <p:nvPr>
            <p:ph idx="16402"/>
            <p:custDataLst>
              <p:tags r:id="rId18"/>
            </p:custDataLst>
          </p:nvPr>
        </p:nvPicPr>
        <p:blipFill>
          <a:blip r:embed="rId19"/>
          <a:srcRect l="19253" r="11782"/>
          <a:stretch>
            <a:fillRect/>
          </a:stretch>
        </p:blipFill>
        <p:spPr>
          <a:xfrm>
            <a:off x="43688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文本占位符 15"/>
          <p:cNvSpPr>
            <a:spLocks noGrp="1"/>
          </p:cNvSpPr>
          <p:nvPr>
            <p:ph type="body" idx="16394"/>
            <p:custDataLst>
              <p:tags r:id="rId20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风险控制对比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传统网格和灵活网格主要依赖网格上下限，缺乏全局风控。DGT策略通过重置机制降低边界风险，但同样缺乏完善的全局风险控制机制，在单边行情中难以有效控制回撤。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8" name="内容占位符 17" descr="7c80898e-e17d-11f0-b241-a2400c670c37"/>
          <p:cNvPicPr>
            <a:picLocks noChangeAspect="1"/>
          </p:cNvPicPr>
          <p:nvPr>
            <p:ph idx="16403"/>
            <p:custDataLst>
              <p:tags r:id="rId22"/>
            </p:custDataLst>
          </p:nvPr>
        </p:nvPicPr>
        <p:blipFill>
          <a:blip r:embed="rId23"/>
          <a:srcRect t="1667" b="1667"/>
          <a:stretch>
            <a:fillRect/>
          </a:stretch>
        </p:blipFill>
        <p:spPr>
          <a:xfrm>
            <a:off x="81280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524000 w 1524000"/>
              <a:gd name="connsiteY1" fmla="*/ 0 h 2209800"/>
              <a:gd name="connisteX2" fmla="*/ 1524000 w 1524000"/>
              <a:gd name="connsiteY2" fmla="*/ 2209800 h 2209800"/>
              <a:gd name="connisteX3" fmla="*/ 0 w 1524000"/>
              <a:gd name="connsiteY3" fmla="*/ 2209800 h 2209800"/>
              <a:gd name="connisteX4" fmla="*/ 0 w 1524000"/>
              <a:gd name="connsiteY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524000" h="2209800">
                <a:moveTo>
                  <a:pt x="0" y="0"/>
                </a:moveTo>
                <a:lnTo>
                  <a:pt x="1524000" y="0"/>
                </a:lnTo>
                <a:lnTo>
                  <a:pt x="15240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9" name="文本占位符 18"/>
          <p:cNvSpPr>
            <a:spLocks noGrp="1"/>
          </p:cNvSpPr>
          <p:nvPr>
            <p:ph type="body" idx="16396"/>
            <p:custDataLst>
              <p:tags r:id="rId24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市场择时能力对比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/>
            <p:custDataLst>
              <p:tags r:id="rId25"/>
            </p:custDataLst>
          </p:nvPr>
        </p:nvSpPr>
        <p:spPr/>
        <p:txBody>
          <a:bodyPr>
            <a:normAutofit/>
          </a:bodyPr>
          <a:p>
            <a:r>
              <a:rPr lang="zh-CN" altLang="en-US" sz="1000">
                <a:latin typeface="MiSans Normal" panose="00000500000000000000" charset="-122"/>
                <a:ea typeface="MiSans Normal" panose="00000500000000000000" charset="-122"/>
              </a:rPr>
              <a:t>传统网格、灵活网格和DGT策略都无择时机制，设定即开仓，无法判断市场趋势和最佳入场时机，难以在市场极端情况下做出合理决策。</a:t>
            </a:r>
            <a:endParaRPr lang="zh-CN" altLang="en-US" sz="100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动态网格交易模型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模型概述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多层级网格架构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每个层级独立参数配置，支持投资金额、开仓比例、止盈比例等灵活设置。通过智能回调机制和状态机管理，可实现精准捕获，让交易更贴合实际市场情况，提升操作的准确性和有效性。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核心设计理念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网格定位为“仓位管理执行器”，外部信号系统负责判断市场趋势和入场时机，网格系统则专注于执行精细化仓位管理，这种分工明确的设计使得交易策略更具针对性和科学性。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模型工作流程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信号系统检测市场状态，判断最佳入场时机，然后网格系统接收信号启动首层开仓。智能回调机制优化交易执行价格，状态机管理确保交易流程严谨，全局风控机制实时监控整体风险，保障交易的稳定进行。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模型架构优势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采用模块化设计，信号系统、网格系统、状态管理系统、风控系统相互独立，具有良好的可扩展性，支持添加新类型。同时具备可追溯性，完整的状态记录和日志便于问题诊断和策略优化。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核心创新机制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40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层级独立参数配置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/>
            <a:r>
              <a:rPr lang="zh-CN" altLang="en-US" sz="1100">
                <a:latin typeface="MiSans Normal" panose="00000500000000000000" charset="-122"/>
                <a:ea typeface="MiSans Normal" panose="00000500000000000000" charset="-122"/>
              </a:rPr>
              <a:t>每层级可独立配置投资金额、开仓比例、止盈比例、回调比例，参数空间为R^5n（5n个参数，n为层级数），支持多种资金管理策略，能适应不同资产特性，实现精细化布局。</a:t>
            </a:r>
            <a:endParaRPr lang="zh-CN" altLang="en-US" sz="11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402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智能回调机制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/>
            <a:r>
              <a:rPr lang="zh-CN" altLang="en-US" sz="1100">
                <a:latin typeface="MiSans Normal" panose="00000500000000000000" charset="-122"/>
                <a:ea typeface="MiSans Normal" panose="00000500000000000000" charset="-122"/>
              </a:rPr>
              <a:t>开仓回调时追踪价格极值，等待反弹确认后执行，避免交易在价格半中间；止盈回调追踪价格极值，等待回调确认后止盈，可最大化捕获价格波动收益，在最优点位交易，提升交易质量。</a:t>
            </a:r>
            <a:endParaRPr lang="zh-CN" altLang="en-US" sz="11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40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信号驱动择时系统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 fontScale="70000"/>
          </a:bodyPr>
          <a:p>
            <a:pPr algn="l"/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基于外部信号进行择时开仓，支持多时间框架分析，采用多周期共振机制，所有启用的时间框架信号条件同时满足时才触发首层开仓，还支持多种信号类型，可与多种策略融合。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装饰  3"/>
          <p:cNvSpPr>
            <a:spLocks noGrp="1"/>
          </p:cNvSpPr>
          <p:nvPr>
            <p:ph type="body" idx="16404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多层级状态管理系统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/>
            <a:r>
              <a:rPr lang="zh-CN" altLang="en-US" sz="1100">
                <a:latin typeface="MiSans Normal" panose="00000500000000000000" charset="-122"/>
                <a:ea typeface="MiSans Normal" panose="00000500000000000000" charset="-122"/>
              </a:rPr>
              <a:t>完整状态机管理每个层级交易流程，明确状态定义和转换规则，状态类型多样。系统实时监控状态，检测异常情况并自动修复，确保交易状态的一致性和稳定性。</a:t>
            </a:r>
            <a:endParaRPr lang="zh-CN" altLang="en-US" sz="11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400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05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8"/>
            <p:custDataLst>
              <p:tags r:id="rId20"/>
            </p:custDataLst>
          </p:nvPr>
        </p:nvSpPr>
        <p:spPr/>
        <p:txBody>
          <a:bodyPr>
            <a:normAutofit/>
          </a:bodyPr>
          <a:p>
            <a:r>
              <a:rPr lang="zh-CN" altLang="en-US" sz="1400">
                <a:latin typeface="MiSans Normal" panose="00000500000000000000" charset="-122"/>
                <a:ea typeface="MiSans Normal" panose="00000500000000000000" charset="-122"/>
              </a:rPr>
              <a:t>全局风险控制机制</a:t>
            </a:r>
            <a:endParaRPr lang="zh-CN" altLang="en-US" sz="140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9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/>
            <a:r>
              <a:rPr lang="zh-CN" altLang="en-US" sz="1100">
                <a:latin typeface="MiSans Normal" panose="00000500000000000000" charset="-122"/>
                <a:ea typeface="MiSans Normal" panose="00000500000000000000" charset="-122"/>
              </a:rPr>
              <a:t>包括价格比例止盈，基于平均持仓成本计算整体收益率；金额止盈止损，基于绝对金额控制损失；层级依赖管理确保交易逻辑一致；并定期进行全局一致性校验和级联修复。</a:t>
            </a:r>
            <a:endParaRPr lang="zh-CN" altLang="en-US" sz="110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动态网格的核心优势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4" name="图片占位符 3" descr="79fdd89f-e17d-11f0-b407-1ed44b2b48a5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2592" b="12592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扩展网格覆盖范围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智能回调机制使实际间距扩展，如50层1%配置，传统网格覆盖50%，动态网格可覆盖60%以上。层级独立配置带来灵活性，可实现精细化布局和差异化资金管理。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8" name="图片占位符 7" descr="79fddefd-e17d-11f0-b407-1ed44b2b48a5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r="11656" b="21563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降低交易风险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信号驱动择时降低入场风险，从随机入场变为信号判断入场；智能回调机制降低执行风险，避免极端点位交易；多维度全局风险控制，保障交易安全。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2" name="图片占位符 11" descr="79fddc4a-e17d-11f0-b407-1ed44b2b48a5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5937" r="25625" b="6563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2032000 h 2032000"/>
              <a:gd name="connisteX3" fmla="*/ 0 w 3454400"/>
              <a:gd name="connsiteY3" fmla="*/ 2032000 h 2032000"/>
              <a:gd name="connisteX4" fmla="*/ 0 w 3454400"/>
              <a:gd name="connsiteY4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提升策略表达能力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参数配置空间指数级提升，传统网格为R^1，动态网格为R^5n。状态管理能力增强，传统网格2个状态，动态网格6+个状态，能表达更复杂交易逻辑。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回测与实盘展示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0</a:t>
            </a:r>
            <a:r>
              <a:rPr lang="en-US" altLang="zh-CN">
                <a:latin typeface="MiSans Normal" panose="00000500000000000000" charset="-122"/>
                <a:ea typeface="MiSans Normal" panose="00000500000000000000" charset="-122"/>
                <a:cs typeface="Arial" panose="020B0604020202020204" pitchFamily="34" charset="0"/>
              </a:rPr>
              <a:t>4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39869049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167" y="517622"/>
            <a:ext cx="11483641" cy="6142552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354170" y="80126"/>
            <a:ext cx="10998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b="1"/>
              <a:t>回测</a:t>
            </a:r>
            <a:r>
              <a:rPr lang="zh-CN" altLang="en-US" b="1">
                <a:cs typeface="Arial" panose="020B0604020202020204" pitchFamily="34" charset="0"/>
              </a:rPr>
              <a:t>报告</a:t>
            </a:r>
            <a:endParaRPr lang="zh-CN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361511" y="226931"/>
            <a:ext cx="10998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b="1"/>
              <a:t>交易</a:t>
            </a:r>
            <a:r>
              <a:rPr lang="zh-CN" altLang="en-US" b="1">
                <a:cs typeface="Arial" panose="020B0604020202020204" pitchFamily="34" charset="0"/>
              </a:rPr>
              <a:t>点位</a:t>
            </a:r>
            <a:endParaRPr lang="zh-CN" altLang="en-US" b="1"/>
          </a:p>
        </p:txBody>
      </p:sp>
      <p:pic>
        <p:nvPicPr>
          <p:cNvPr id="3" name="图片 2" descr="post_object_image_13247579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511" y="596483"/>
            <a:ext cx="5400000" cy="3089217"/>
          </a:xfrm>
          <a:prstGeom prst="rect">
            <a:avLst/>
          </a:prstGeom>
        </p:spPr>
      </p:pic>
      <p:pic>
        <p:nvPicPr>
          <p:cNvPr id="4" name="图片 3" descr="post_object_image_6607112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483" y="596483"/>
            <a:ext cx="5400000" cy="3089217"/>
          </a:xfrm>
          <a:prstGeom prst="rect">
            <a:avLst/>
          </a:prstGeom>
        </p:spPr>
      </p:pic>
      <p:pic>
        <p:nvPicPr>
          <p:cNvPr id="5" name="图片 4" descr="post_object_image_3362247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1" y="3296405"/>
            <a:ext cx="5400000" cy="3082220"/>
          </a:xfrm>
          <a:prstGeom prst="rect">
            <a:avLst/>
          </a:prstGeom>
        </p:spPr>
      </p:pic>
      <p:pic>
        <p:nvPicPr>
          <p:cNvPr id="6" name="图片 5" descr="post_object_image_20636583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483" y="3296390"/>
            <a:ext cx="5400000" cy="30831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304178" y="220202"/>
            <a:ext cx="10998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b="1"/>
              <a:t>实盘</a:t>
            </a:r>
            <a:r>
              <a:rPr lang="zh-CN" altLang="en-US" b="1">
                <a:cs typeface="Arial" panose="020B0604020202020204" pitchFamily="34" charset="0"/>
              </a:rPr>
              <a:t>数据</a:t>
            </a:r>
            <a:endParaRPr lang="zh-CN" altLang="en-US" b="1"/>
          </a:p>
        </p:txBody>
      </p:sp>
      <p:pic>
        <p:nvPicPr>
          <p:cNvPr id="3" name="图片 2" descr="post_object_image_131312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29" y="589795"/>
            <a:ext cx="11520000" cy="60814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THE END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6300">
                <a:latin typeface="汉仪刚艺体-85W" panose="00020600040101010101" charset="-122"/>
                <a:ea typeface="汉仪刚艺体-85W" panose="00020600040101010101" charset="-122"/>
              </a:rPr>
              <a:t>谢谢</a:t>
            </a:r>
            <a:endParaRPr lang="zh-CN" altLang="en-US" sz="630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82968b263e76c08de04fc6481a1a2d1ad5c9f62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99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0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0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5"/>
  <p:tag name="KSO_WM_TEMPLATE_MASTER_TYPE" val="0"/>
  <p:tag name="KSO_WM_TEMPLATE_COLOR_TYPE" val="0"/>
  <p:tag name="KSO_WM_BEAUTIFY_FLAG" val="#wm#"/>
</p:tagLst>
</file>

<file path=ppt/tags/tag1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d6d3f39df28908b5"/>
  <p:tag name="KSO_WM_AITEMPLATE_STYLE_ID" val="69796643695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7fdc71a8f92c91fc87c0839c72ae378911aa7e"/>
  <p:tag name="KSO_WM_NEWLAYOUT_GROUP_ID" val="layout_42"/>
  <p:tag name="KSO_WM_NEWLAYOUT_ID" val="slide_66cb8f4544f7031a"/>
</p:tagLst>
</file>

<file path=ppt/tags/tag1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4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5_1"/>
  <p:tag name="KSO_WM_UNIT_TYPE" val="l_h_i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ec5f013035b0c2ee181cb450b28c81962499a"/>
  <p:tag name="KSO_WM_NEWLAYOUT_GROUP_ID" val="layout_38"/>
  <p:tag name="KSO_WM_NEWLAYOUT_ID" val="slide_3e4f13ddd7dc8528"/>
</p:tagLst>
</file>

<file path=ppt/tags/tag1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d5e6ba10cecdeea67459eb50e3a092fe3ec28c"/>
  <p:tag name="KSO_WM_NEWLAYOUT_GROUP_ID" val="layout_49"/>
  <p:tag name="KSO_WM_NEWLAYOUT_ID" val="slide_f5e96d7e482d392e"/>
</p:tagLst>
</file>

<file path=ppt/tags/tag15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4_1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5_1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2db5fdd36a08d8a80af6c26ba845e541debd8c"/>
  <p:tag name="KSO_WM_NEWLAYOUT_GROUP_ID" val="layout_35"/>
  <p:tag name="KSO_WM_NEWLAYOUT_ID" val="slide_90cdd96762bb354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192e5a7de2faed25893d05931ce58b17358e970"/>
  <p:tag name="KSO_WM_NEWLAYOUT_GROUP_ID" val="layout_10009"/>
  <p:tag name="KSO_WM_NEWLAYOUT_ID" val="slide_afa3532b658af64d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d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d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086f92c51b1c51d3ff132bd65d0cfbe1996486"/>
  <p:tag name="KSO_WM_NEWLAYOUT_GROUP_ID" val="layout_3"/>
  <p:tag name="KSO_WM_NEWLAYOUT_ID" val="slide_0576b72b971413eb"/>
</p:tagLst>
</file>

<file path=ppt/tags/tag21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21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21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</p:tagLst>
</file>

<file path=ppt/tags/tag222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c317c824fc077e0a61d98a450981e3d5a0dbdd"/>
  <p:tag name="KSO_WM_NEWLAYOUT_GROUP_ID" val="layout_14"/>
  <p:tag name="KSO_WM_NEWLAYOUT_ID" val="slide_fbd1737be693ef9a"/>
</p:tagLst>
</file>

<file path=ppt/tags/tag22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a4f5b5de803362849fb34a400e2fe38f45880c"/>
  <p:tag name="KSO_WM_NEWLAYOUT_GROUP_ID" val="layout_10007"/>
  <p:tag name="KSO_WM_NEWLAYOUT_ID" val="slide_5d74a312f6e6264e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4319854443c5dd07c0f09142945ce5345caf76f"/>
  <p:tag name="KSO_WM_NEWLAYOUT_GROUP_ID" val="layout_1-5"/>
  <p:tag name="KSO_WM_NEWLAYOUT_ID" val="slide_063b19861dc0a508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2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2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2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2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2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5"/>
  <p:tag name="KSO_WM_TEMPLATE_MASTER_TYPE" val="0"/>
  <p:tag name="KSO_WM_TEMPLATE_COLOR_TYPE" val="0"/>
  <p:tag name="KSO_WM_BEAUTIFY_FLAG" val="#wm#"/>
</p:tagLst>
</file>

<file path=ppt/tags/tag28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d6d3f39df28908b5"/>
</p:tagLst>
</file>

<file path=ppt/tags/tag28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5"/>
  <p:tag name="KSO_WM_UNIT_LAYERLEVEL" val="1"/>
  <p:tag name="KSO_WM_UNIT_ID" val="custom40494635_1*f*1"/>
  <p:tag name="KSO_WM_TAG_VERSION" val="3.0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8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84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5"/>
  <p:tag name="KSO_WM_UNIT_LAYERLEVEL" val="1"/>
  <p:tag name="KSO_WM_UNIT_ID" val="custom40494635_1*f*2"/>
  <p:tag name="KSO_WM_TAG_VERSION" val="3.0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85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5"/>
  <p:tag name="KSO_WM_SLIDE_ID" val="custom40494635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GROUP_ID" val="layout_1-5"/>
  <p:tag name="KSO_WM_NEWLAYOUT_ID" val="slide_61223ae7a7f7aefc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2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2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2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43695"/>
  <p:tag name="KSO_WM_TEMPLATE_SLIDE_ID" val="slide_61223ae7a7f7aefc"/>
</p:tagLst>
</file>

<file path=ppt/tags/tag30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3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0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2"/>
  <p:tag name="KSO_WM_FIGMA_FLAG" val="#fgm#"/>
  <p:tag name="KSO_WM_TEMPLATE_CATEGORY" val="custom"/>
  <p:tag name="KSO_WM_TEMPLATE_INDEX" val="40494635"/>
  <p:tag name="KSO_WM_UNIT_LAYERLEVEL" val="1"/>
  <p:tag name="KSO_WM_UNIT_ID" val="custom40494635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</p:tagLst>
</file>

<file path=ppt/tags/tag30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5"/>
  <p:tag name="KSO_WM_SLIDE_ID" val="custom40494635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a4f5b5de803362849fb34a400e2fe38f45880c"/>
  <p:tag name="KSO_WM_NEWLAYOUT_GROUP_ID" val="layout_10007"/>
  <p:tag name="KSO_WM_NEWLAYOUT_ID" val="slide_5d74a312f6e6264e"/>
  <p:tag name="KSO_WM_UNIT_PRESET_TEXT" val="单击此处添加标题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43695"/>
  <p:tag name="KSO_WM_TEMPLATE_SLIDE_ID" val="slide_5d74a312f6e6264e"/>
</p:tagLst>
</file>

<file path=ppt/tags/tag3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c317c824fc077e0a61d98a450981e3d5a0dbdd"/>
  <p:tag name="KSO_WM_NEWLAYOUT_GROUP_ID" val="layout_14"/>
  <p:tag name="KSO_WM_NEWLAYOUT_ID" val="slide_fbd1737be693ef9a"/>
  <p:tag name="KSO_WM_UNIT_PRESET_TEXT" val="单击此处添加标题"/>
</p:tagLst>
</file>

<file path=ppt/tags/tag317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  <p:tag name="KSO_WM_UNIT_PRESET_TEXT" val="单击此处添加正文"/>
</p:tagLst>
</file>

<file path=ppt/tags/tag319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95"/>
  <p:tag name="KSO_WM_TEMPLATE_SLIDE_ID" val="slide_fbd1737be693ef9a"/>
</p:tagLst>
</file>

<file path=ppt/tags/tag3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3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2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2"/>
  <p:tag name="KSO_WM_FIGMA_FLAG" val="#fgm#"/>
  <p:tag name="KSO_WM_TEMPLATE_CATEGORY" val="custom"/>
  <p:tag name="KSO_WM_TEMPLATE_INDEX" val="40494635"/>
  <p:tag name="KSO_WM_UNIT_LAYERLEVEL" val="1"/>
  <p:tag name="KSO_WM_UNIT_ID" val="custom40494635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</p:tagLst>
</file>

<file path=ppt/tags/tag322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5"/>
  <p:tag name="KSO_WM_SLIDE_ID" val="custom40494635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086f92c51b1c51d3ff132bd65d0cfbe1996486"/>
  <p:tag name="KSO_WM_NEWLAYOUT_GROUP_ID" val="layout_3"/>
  <p:tag name="KSO_WM_NEWLAYOUT_ID" val="slide_0576b72b971413eb"/>
  <p:tag name="KSO_WM_UNIT_PRESET_TEXT" val="单击此处添加标题"/>
</p:tagLst>
</file>

<file path=ppt/tags/tag32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2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2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3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95"/>
  <p:tag name="KSO_WM_TEMPLATE_SLIDE_ID" val="slide_0576b72b971413eb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192e5a7de2faed25893d05931ce58b17358e970"/>
  <p:tag name="KSO_WM_NEWLAYOUT_GROUP_ID" val="layout_10009"/>
  <p:tag name="KSO_WM_NEWLAYOUT_ID" val="slide_afa3532b658af64d"/>
  <p:tag name="KSO_WM_UNIT_PRESET_TEXT" val="单击此处添加标题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288602427&quot;,&quot;product_name&quot;:&quot;wps-wpp-pc&quot;,&quot;intention_code&quot;:&quot;wps_wpp_generate_outline_pay&quot;}*auto_gallery_ai_v2.2.0_ONLINE*1766658936368_2aeb8a_5bd93d3a6171-slide-7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211321664777&quot;,&quot;product_name&quot;:&quot;wps-wpp-pc&quot;,&quot;intention_code&quot;:&quot;wps_wpp_generate_outline_pay&quot;}*auto_gallery_ai_v2.2.0_ONLINE*1766658936368_2aeb8a_5bd93d3a6171-slide-7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512/753c6632-1cfd-43ad-9963-d037d22e6f18.jpg?Expires=1798194951\u0026AWSAccessKeyId=AKLT9NSy7kh8TIS1UzNqLRY2\u0026Signature=METoVYCm73t3g2S53Xc%2BbJMJ9ko%3D&quot;,&quot;product_name&quot;:&quot;wps-wpp-pc&quot;,&quot;intention_code&quot;:&quot;wps_wpp_generate_outline_pay&quot;}*auto_qingqiu_ai_v2.2.0_ONLINE*1766658936368_2aeb8a_5bd93d3a6171-slide-7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1453794414&quot;,&quot;product_name&quot;:&quot;wps-wpp-pc&quot;,&quot;intention_code&quot;:&quot;wps_wpp_generate_outline_pay&quot;}*auto_gallery_ai_v2.2.0_ONLINE*1766658936368_2aeb8a_5bd93d3a6171-slide-7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d"/>
  <p:tag name="MH_PIC_SOURCE_TYPE" val="generate_slide_ai*{&quot;id&quot;:&quot;VCG41N1477505611&quot;,&quot;product_name&quot;:&quot;wps-wpp-pc&quot;,&quot;intention_code&quot;:&quot;wps_wpp_generate_outline_pay&quot;}*auto_gallery_ai_v2.2.0_ONLINE*1766658936368_2aeb8a_5bd93d3a6171-slide-7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项标题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d"/>
  <p:tag name="MH_PIC_SOURCE_TYPE" val="generate_slide_ai*{&quot;id&quot;:&quot;VCG41N1396861511&quot;,&quot;product_name&quot;:&quot;wps-wpp-pc&quot;,&quot;intention_code&quot;:&quot;wps_wpp_generate_outline_pay&quot;}*auto_gallery_ai_v2.2.0_ONLINE*1766658936368_2aeb8a_5bd93d3a6171-slide-7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43695"/>
  <p:tag name="KSO_WM_TEMPLATE_SLIDE_ID" val="slide_afa3532b658af64d"/>
</p:tagLst>
</file>

<file path=ppt/tags/tag35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3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5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2"/>
  <p:tag name="KSO_WM_FIGMA_FLAG" val="#fgm#"/>
  <p:tag name="KSO_WM_TEMPLATE_CATEGORY" val="custom"/>
  <p:tag name="KSO_WM_TEMPLATE_INDEX" val="40494635"/>
  <p:tag name="KSO_WM_UNIT_LAYERLEVEL" val="1"/>
  <p:tag name="KSO_WM_UNIT_ID" val="custom40494635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</p:tagLst>
</file>

<file path=ppt/tags/tag35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5"/>
  <p:tag name="KSO_WM_SLIDE_ID" val="custom40494635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2db5fdd36a08d8a80af6c26ba845e541debd8c"/>
  <p:tag name="KSO_WM_NEWLAYOUT_GROUP_ID" val="layout_35"/>
  <p:tag name="KSO_WM_NEWLAYOUT_ID" val="slide_90cdd96762bb354a"/>
  <p:tag name="KSO_WM_UNIT_PRESET_TEXT" val="单击此处添加标题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695"/>
  <p:tag name="KSO_WM_TEMPLATE_SLIDE_ID" val="slide_90cdd96762bb354a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d5e6ba10cecdeea67459eb50e3a092fe3ec28c"/>
  <p:tag name="KSO_WM_NEWLAYOUT_GROUP_ID" val="layout_49"/>
  <p:tag name="KSO_WM_NEWLAYOUT_ID" val="slide_f5e96d7e482d392e"/>
  <p:tag name="KSO_WM_UNIT_PRESET_TEXT" val="单击此处添加标题"/>
</p:tagLst>
</file>

<file path=ppt/tags/tag37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5_1"/>
  <p:tag name="KSO_WM_UNIT_TYPE" val="l_h_i"/>
  <p:tag name="KSO_WM_UNIT_PRESET_TEXT" val=" 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  <p:tag name="KSO_WM_UNIT_PRESET_TEXT" val="05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项标题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39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43695"/>
  <p:tag name="KSO_WM_TEMPLATE_SLIDE_ID" val="slide_f5e96d7e482d392e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aec5f013035b0c2ee181cb450b28c81962499a"/>
  <p:tag name="KSO_WM_NEWLAYOUT_GROUP_ID" val="layout_38"/>
  <p:tag name="KSO_WM_NEWLAYOUT_ID" val="slide_3e4f13ddd7dc8528"/>
  <p:tag name="KSO_WM_UNIT_PRESET_TEXT" val="单击此处添加标题"/>
</p:tagLst>
</file>

<file path=ppt/tags/tag3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270973537&quot;,&quot;product_name&quot;:&quot;wps-wpp-pc&quot;,&quot;intention_code&quot;:&quot;wps_wpp_generate_outline_pay&quot;}*auto_gallery_ai_v2.2.0_ONLINE*1766658936368_2aeb8a_5bd93d3a6171-slide-11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88281910&quot;,&quot;product_name&quot;:&quot;wps-wpp-pc&quot;,&quot;intention_code&quot;:&quot;wps_wpp_generate_outline_pay&quot;}*auto_gallery_ai_v2.2.0_ONLINE*1766658936368_2aeb8a_5bd93d3a6171-slide-11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211418921106&quot;,&quot;product_name&quot;:&quot;wps-wpp-pc&quot;,&quot;intention_code&quot;:&quot;wps_wpp_generate_outline_pay&quot;}*auto_gallery_ai_v2.2.0_ONLINE*1766658936368_2aeb8a_5bd93d3a6171-slide-11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95"/>
  <p:tag name="KSO_WM_TEMPLATE_SLIDE_ID" val="slide_3e4f13ddd7dc8528"/>
</p:tagLst>
</file>

<file path=ppt/tags/tag41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107fdc71a8f92c91fc87c0839c72ae378911aa7e"/>
  <p:tag name="KSO_WM_NEWLAYOUT_GROUP_ID" val="layout_42"/>
  <p:tag name="KSO_WM_NEWLAYOUT_ID" val="slide_66cb8f4544f7031a"/>
  <p:tag name="KSO_WM_UNIT_PRESET_TEXT" val="单击此处添加标题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41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"/>
  <p:tag name="KSO_WM_UNIT_TYPE" val="e"/>
  <p:tag name="KSO_WM_UNIT_PRESET_TEXT" val="项标题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41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43695"/>
  <p:tag name="KSO_WM_TEMPLATE_SLIDE_ID" val="slide_66cb8f4544f7031a"/>
</p:tagLst>
</file>

<file path=ppt/tags/tag41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5"/>
  <p:tag name="KSO_WM_UNIT_LAYERLEVEL" val="1"/>
  <p:tag name="KSO_WM_UNIT_ID" val="custom40494635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41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415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5"/>
  <p:tag name="KSO_WM_SLIDE_ID" val="custom40494635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蓝色IT科技风主题">
  <a:themeElements>
    <a:clrScheme name="">
      <a:dk1>
        <a:srgbClr val="000000"/>
      </a:dk1>
      <a:lt1>
        <a:srgbClr val="FFFFFF"/>
      </a:lt1>
      <a:dk2>
        <a:srgbClr val="091128"/>
      </a:dk2>
      <a:lt2>
        <a:srgbClr val="EFEFEF"/>
      </a:lt2>
      <a:accent1>
        <a:srgbClr val="2F56C8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00B5EE"/>
      </a:hlink>
      <a:folHlink>
        <a:srgbClr val="2F56C8"/>
      </a:folHlink>
    </a:clrScheme>
    <a:fontScheme name="自定义 24">
      <a:majorFont>
        <a:latin typeface="汉仪刚艺体-85W"/>
        <a:ea typeface="汉仪刚艺体-85W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IT科技风主题">
  <a:themeElements>
    <a:clrScheme name="">
      <a:dk1>
        <a:srgbClr val="000000"/>
      </a:dk1>
      <a:lt1>
        <a:srgbClr val="FFFFFF"/>
      </a:lt1>
      <a:dk2>
        <a:srgbClr val="102B3F"/>
      </a:dk2>
      <a:lt2>
        <a:srgbClr val="EFEFEF"/>
      </a:lt2>
      <a:accent1>
        <a:srgbClr val="0B95E5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00B5EE"/>
      </a:hlink>
      <a:folHlink>
        <a:srgbClr val="2F56C8"/>
      </a:folHlink>
    </a:clrScheme>
    <a:fontScheme name="自定义 24">
      <a:majorFont>
        <a:latin typeface="汉仪刚艺体-85W"/>
        <a:ea typeface="汉仪刚艺体-85W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3127</Words>
  <Application>WPS 演示</Application>
  <PresentationFormat>宽屏</PresentationFormat>
  <Paragraphs>239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汉仪刚艺体-85W</vt:lpstr>
      <vt:lpstr>MiSans Normal</vt:lpstr>
      <vt:lpstr>Wingdings</vt:lpstr>
      <vt:lpstr>黑体</vt:lpstr>
      <vt:lpstr>Arial Unicode MS</vt:lpstr>
      <vt:lpstr>Calibri</vt:lpstr>
      <vt:lpstr>Office 主题</vt:lpstr>
      <vt:lpstr>1_蓝色IT科技风主题</vt:lpstr>
      <vt:lpstr>2_蓝色IT科技风主题</vt:lpstr>
      <vt:lpstr>动态网格交易模型：PPT生成大纲</vt:lpstr>
      <vt:lpstr>目录</vt:lpstr>
      <vt:lpstr>传统网格的意义和问题</vt:lpstr>
      <vt:lpstr>网格交易策略的理论意义</vt:lpstr>
      <vt:lpstr>传统网格策略的核心问题</vt:lpstr>
      <vt:lpstr>网格策略演进与分析</vt:lpstr>
      <vt:lpstr>网格策略演进路径</vt:lpstr>
      <vt:lpstr>三种策略的对比分析</vt:lpstr>
      <vt:lpstr>动态网格交易模型</vt:lpstr>
      <vt:lpstr>模型概述</vt:lpstr>
      <vt:lpstr>核心创新机制</vt:lpstr>
      <vt:lpstr>动态网格的核心优势</vt:lpstr>
      <vt:lpstr>回测与实盘展示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动态网格交易模型：PPT生成大纲</dc:title>
  <dc:creator/>
  <cp:lastModifiedBy>账负寿蕉纲</cp:lastModifiedBy>
  <cp:revision>2</cp:revision>
  <dcterms:created xsi:type="dcterms:W3CDTF">2025-12-25T11:31:00Z</dcterms:created>
  <dcterms:modified xsi:type="dcterms:W3CDTF">2025-12-25T11:33:29Z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v1.0_ai_69796643695</vt:lpwstr>
  </property>
</Properties>
</file>